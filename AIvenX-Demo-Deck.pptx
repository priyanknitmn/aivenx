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notesMasterIdLst>
    <p:notesMasterId r:id="rId2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· 2026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48640" y="2468880"/>
            <a:ext cx="10972800" cy="2926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AI-native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school,</a:t>
            </a:r>
            <a:endParaRPr lang="en-US" sz="6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6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 one login.</a:t>
            </a:r>
            <a:endParaRPr lang="en-US" sz="6000" dirty="0"/>
          </a:p>
        </p:txBody>
      </p:sp>
      <p:sp>
        <p:nvSpPr>
          <p:cNvPr id="8" name="Text 6"/>
          <p:cNvSpPr/>
          <p:nvPr/>
        </p:nvSpPr>
        <p:spPr>
          <a:xfrm>
            <a:off x="548640" y="539496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walkthrough prepared for [School Name].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548640" y="63093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aivenx.co.in  ·  hello@aivenx.co.in  ·  Mumbai, India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WE'LL COVER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guided tour, feature by feature.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920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  The problem we solve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309360" y="1920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  Admissions &amp; enquiry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2377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  Fees &amp; invoicing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309360" y="2377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04  HR &amp; payroll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57200" y="2834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05  Timetable &amp; exams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309360" y="2834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06  Report cards (multi-board)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32918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07  Cortex — Chapter Generator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6309360" y="32918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08  Cortex — Question Bank (150k)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457200" y="37490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09  Cortex — Assessment Creator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309360" y="37490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10  Cortex — AI Evaluator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" y="4206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11  Cortex Helper + Study mode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309360" y="42062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12  Face AI attendance (live)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4663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13  Parent communication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309360" y="46634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14  Library · Transport · Hostel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57200" y="5120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  Security &amp; data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5120640"/>
            <a:ext cx="56692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16  Editions, onboarding, next steps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 juggle 5 vendors.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charges per-module, has its own login, its own data silo, its own outage window. AIvenX replaces all five with one platform.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457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ERP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2743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743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2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2743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LMS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5029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3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5029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Biometric</a:t>
            </a:r>
            <a:endParaRPr lang="en-US" sz="1800" dirty="0"/>
          </a:p>
        </p:txBody>
      </p:sp>
      <p:sp>
        <p:nvSpPr>
          <p:cNvPr id="14" name="Shape 12"/>
          <p:cNvSpPr/>
          <p:nvPr/>
        </p:nvSpPr>
        <p:spPr>
          <a:xfrm>
            <a:off x="7315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315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4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7315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Exams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9601200" y="3931920"/>
            <a:ext cx="2103120" cy="1463040"/>
          </a:xfrm>
          <a:prstGeom prst="roundRect">
            <a:avLst>
              <a:gd name="adj" fmla="val 625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601200" y="4114800"/>
            <a:ext cx="2103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VENDOR 5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9601200" y="448056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Transport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1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 Operations.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Admissions · Fees · HR · Library · Transport · Hostel.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01 · ADMISSIONS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Capture every enquiry. Convert more of them.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full enquiry-to-enrolment funnel. Every walk-in, web form, and phone call lands in one queue with follow-up reminders.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5669280" cy="3017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enquiry form embedded on your school website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Walk-in capture by the front desk in 30 seconds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Stage-tracked pipeline: Enquired → Visited → Tested → Offered → Enrolled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Auto-reminders for follow-up calls, missed steps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Document uploads (birth cert, photo) — all in one record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Direct conversion to a student record on enrolment — no re-typing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2926080"/>
            <a:ext cx="5303520" cy="3474720"/>
          </a:xfrm>
          <a:prstGeom prst="roundRect">
            <a:avLst>
              <a:gd name="adj" fmla="val 3947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108960"/>
            <a:ext cx="4937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IT MATTERS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3474720"/>
            <a:ext cx="4937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schools lose 30% of enquiries between the form and the first follow-up call. AIvenX prevents that by making every enquiry visible to admin, principal, and the front desk on day one.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02 · FEES &amp; INVOICING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rupee, accounted.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Term-based fee structures, online payments, automated dues reminders, and a finance dashboard the principal can read in 10 seconds.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Flexible structures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· Monthly · Annual. Sibling discounts, scholarship rules, late penalties.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Online payments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UPI, cards, netbanking. Payment links via WhatsApp. Auto-reconciled.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 reminders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Dues SMS / email at T-7, T-3, T-0 days. Custom templates. Pause for individuals.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Receipts &amp; invoices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GST-compliant. Branded with logo + signature. Bulk-export for the auditor.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Finance dashboard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Collected vs. outstanding by class, term, fee head. Drill to student in two clicks.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Refunds &amp; adjustments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Audit-logged. Approval workflow keeps the principal in the loop.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03 · HR &amp; PAYROLL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records, salaries, statutory — in one tab.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the day a teacher joins to the day they retire — appointment letters, leave, payroll, PF, ESI, TDS.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Staff lifecycle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Onboarding: appointment letter, ID card, document checklist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Attendance: face AI for staff too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Leave: CL · SL · PL · maternity · LOP — workflow approvals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Performance reviews: term-end, principal-driven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Exit: relieving letter, full-and-final, archive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474720"/>
          </a:xfrm>
          <a:prstGeom prst="roundRect">
            <a:avLst>
              <a:gd name="adj" fmla="val 394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Payroll &amp; statutory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Salary structures: basic, HRA, allowances, deductions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PF + ESI auto-calculated; challans generated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TDS: monthly deduction, Form 16 at year-end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Bank-ready salary file in one click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Payslips emailed; staff portal download anytime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04 · TIMETABLE &amp; EXAMS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clash-free timetable in 20 minutes.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Auto-generation respects teacher availability, lab capacity, and subject hours. Exam scheduling and seating plans included.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Auto-generation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 constraints once: teacher loads, room types, free-period rules. AIvenX builds the grid.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Substitutions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 a teacher absent → system suggests substitute → SMS to substitute &amp; class.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Exam schedules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Term + final + unit tests. Auto-checks against syllabus completion. Hall-tickets.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Seating plans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Mixed-class seating, roll-number rules, distance constraints, supervisors.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Marks entry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portal with bulk-paste from spreadsheets, validation, lock-after-submission.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Result analytics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Class average, pass %, top scorers, weak areas — per subject, per chapter.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05 · REPORT CARDS (MULTI-BOARD)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Native formats for every board.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 a one-size-fits-all template. Each board's official structure, grading scale, and skill rubric — out of the box.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International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PYP — inquiry-based learning rubric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MYP — criterion grades A–E across 4 strands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IB DP — 1–7 + TOK / EE / CAS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Cambridge IGCSE / A-Levels — A* to G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Advanced Placement — AP score, course grade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108960"/>
          </a:xfrm>
          <a:prstGeom prst="roundRect">
            <a:avLst>
              <a:gd name="adj" fmla="val 441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Indian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CBSE — Term + final, scholastic + co-scholastic, CCE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ICSE / ISC — Marks-based, ICSE skill grading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State Boards — Maharashtra, Karnataka, TN, UP, etc.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NIOS — Distance / open schooling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6263640"/>
            <a:ext cx="1129284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6309360"/>
            <a:ext cx="10972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Don't see yours? Cortex AI is built to adapt to any framework — share your school's rubric and we'll configure it during onboarding.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2 OF 4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Cortex AI Studio.</a:t>
            </a:r>
            <a:endParaRPr lang="en-US" sz="64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flagship. Five tools that save every teacher 10 hours a week.</a:t>
            </a:r>
            <a:endParaRPr lang="en-US" sz="2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06 · CHAPTER GENERATOR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board-aligned chapter, in 30 seconds.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subject, grade, topic. Cortex produces a full chapter — text, diagrams, exercises, answer keys — in one of four learning modes.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🎯 Focus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Clear, structured, exam-ready. Definitions → examples → practice.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⚡ Spark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547872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Engaging analogies, real-world hooks, 'why does this matter' framing.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272784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55664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🎮 Quest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55664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Gamified — challenges, streaks, levels. Best for grades 4-8.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9180576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A855F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9363456" y="32004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📖 Saga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9363456" y="3566160"/>
            <a:ext cx="2377440" cy="1508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Narrative-driven. Concepts taught through story arcs and characters.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548640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chapter includes: body text · embedded diagrams · worked examples · end-of-chapter exercises · answer keys · glossary · cross-links.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07 · QUESTION BANK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150,000+ pre-loaded questions.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Curated, tagged, board-mapped. The library that took us 18 months to build is yours from day one.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type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MCQ · Fill-in-the-blank · Short / long answer · Match · True/False · Diagram-based · Numerical.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Tagged deeply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Subject · Grade · Chapter · Difficulty (1-5) · Bloom's level · Marks · Time estimate.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Board-mapped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Linked to CBSE / ICSE / IB / CAIE / State syllabus codes for guaranteed alignment.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Past-paper rooted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Includes 10 years of board exam questions, marked, with model answers.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Add your own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Teachers contribute private questions to a school-only pool. Stays in your tenant.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Continuously updated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New questions every month. Existing ones re-rated when student data shows mis-calibration.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08 · ASSESSMENT CREATOR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Build a 3-hour board paper in 4 minutes.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filters → preview coverage → publish. CBSE-standard section presets included. Live distribution chart.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457200" y="29260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it works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457200" y="3383280"/>
            <a:ext cx="5669280" cy="3200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1. Pick subject, grade, total marks, duration.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2. Choose section structure — or load a preset (CBSE Sec A/B/C/D/E).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3. Per section: question type, count, marks, chapter &amp; difficulty filters.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4. Live preview shows: chapter coverage, Bloom distribution, difficulty curve.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5. Auto-fill from question bank, or hand-pick. Mix freely.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6. Publish → printable PDF + answer key + student-portal link.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400800" y="2926080"/>
            <a:ext cx="5349240" cy="3566160"/>
          </a:xfrm>
          <a:prstGeom prst="roundRect">
            <a:avLst>
              <a:gd name="adj" fmla="val 384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0" y="3108960"/>
            <a:ext cx="5029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WHY TEACHERS LOVE IT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6583680" y="347472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Paper-setting used to take 4-6 hours. With Cortex it's under 10 minutes — and the coverage preview catches mistakes before they reach students. Two teachers can collaborate live on the same paper.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09 · AI EVALUATOR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Grade 200 sheets in an hour, not a weekend.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Upload scanned sheets — Cortex grades MCQs in seconds, short / long answers using rubric-aware AI. Borderline cases route to teacher.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OCR for handwriting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Trained on Indian student handwriting. Works on regular A4 scans — no special paper.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Rubric-aware grading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Compares to model answer + rubric. Awards partial marks; explains every deduction.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Teacher-in-the-loop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Confidence-scored. Borderline answers (~10%) routed to teacher; rest auto-finalised.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Plagiarism check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Flags suspiciously similar answers across the same class — catches copying.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Auto-write to gradebook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Marks land in the exam record. Report cards generate themselves.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Insights for teachers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Per-question analytics: which concept needs re-teaching, which student needs help.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10 · CORTEX HELPER + STUDY MODE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AI guide on every page. Meet Leo.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floating chat button that knows what page you're on. For staff, product help. For students, a chapter tutor.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548640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22D3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Helper mode (staff)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61188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"How do I generate a fee invoice?"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"Why is this student showing absent?"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"Take me to the timetable for Class 7B"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Streams answers live · cites the right module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Persists across pages — context carries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63640" y="3017520"/>
            <a:ext cx="5486400" cy="329184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6520" y="315468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Study mode (students)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46520" y="3611880"/>
            <a:ext cx="512064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Auto-activates on chapter pages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"Explain photosynthesis like I'm in grade 7"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"Quiz me on this chapter"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"What did this paragraph mean?"</a:t>
            </a:r>
            <a:endParaRPr lang="en-US" sz="12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Stays on-syllabus — never goes off-topic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3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AI Attendance.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biometric machine, replaced by a webcam.</a:t>
            </a:r>
            <a:endParaRPr lang="en-US" sz="20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11 · FACE AI ATTENDANCE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Under a second per student. No queue.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demo follows. A single webcam at the door marks every student present in real time, while teachers walk in and start teaching.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40080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Enrol once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3-5 photos at admission. Embeddings stored, photos discarded.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364992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47872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47872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Recognise live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3547872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Camera streams to the recognizer. Faces matched in &lt;1 sec.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72784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55664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6455664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Default-absent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55664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Anyone not seen by cut-off → marked absent → SMS to parent.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9180576" y="3017520"/>
            <a:ext cx="2743200" cy="2194560"/>
          </a:xfrm>
          <a:prstGeom prst="roundRect">
            <a:avLst>
              <a:gd name="adj" fmla="val 416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363456" y="3108960"/>
            <a:ext cx="73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9363456" y="365760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Period-wise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9363456" y="4069080"/>
            <a:ext cx="2377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Re-runs every period. Catches mid-day absconding too.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548640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562356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Privacy by design: only mathematical embeddings stored — never raw photos. ID-card scan continues as backup. Camera frames processed and discarded.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146304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22D3EE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SECTION 4 OF 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201168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Engagement &amp; Operations.</a:t>
            </a:r>
            <a:endParaRPr lang="en-US" sz="6400" dirty="0"/>
          </a:p>
        </p:txBody>
      </p:sp>
      <p:sp>
        <p:nvSpPr>
          <p:cNvPr id="4" name="Text 2"/>
          <p:cNvSpPr/>
          <p:nvPr/>
        </p:nvSpPr>
        <p:spPr>
          <a:xfrm>
            <a:off x="548640" y="4572000"/>
            <a:ext cx="10972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Communication · Library · Transport · Hostel · Foundations.</a:t>
            </a:r>
            <a:endParaRPr lang="en-US" sz="20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12 · PARENT COMMUNICATION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One channel for every parent message.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board, SMS, email, in-app, and (optionally) WhatsApp Business. Every message logged, every delivery tracked.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Notice board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School-wide, class-wise, or individual. Pin-to-top, expiry dates, attachments.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Templates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Pre-built for: absent SMS, fee dues, exam reminders, PTM, holidays.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Multi-language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English, Hindi, Marathi, Tamil, Bengali — auto-translated per parent's preference.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Two-way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Parents reply from their portal. Teacher sees a threaded conversation.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Event calendar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Sync to Google / Apple. PTM bookings handled in-portal.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Delivery tracking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Sent · Delivered · Read · Replied. Auditable, exportable.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13 · LIBRARY · TRANSPORT · HOSTEL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operational long tail, handled.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modules other ERPs charge extra for — included in AIvenX from the Operate edition onwards.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📚 Library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Catalogue with ISBN auto-fetch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Issue / return via barcode or QR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Fines auto-calculated, charged to fees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Reading lists per class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Inventory audits, reservations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🚌 Transport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Routes &amp; stops with student assignment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Driver app for pickup confirmation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Live GPS (with hardware partner)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ETA + boarding/alighting alerts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Bus fees integrated with fee module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3383280"/>
          </a:xfrm>
          <a:prstGeom prst="roundRect">
            <a:avLst>
              <a:gd name="adj" fmla="val 4054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15468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🛏️ Hostel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2743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Room allocation, roommate matching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In/out register with face check-in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Mess attendance &amp; menu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Visitor log, leave applications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Hostel + mess fees integrated</a:t>
            </a:r>
            <a:endParaRPr lang="en-US" sz="11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FEATURE 14 · SECURITY &amp; DATA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Built for the data you can't lose.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Schools handle minors' photos, medical records, fee histories. AIvenX is engineered around that responsibility.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4572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🔒 Multi-tenant secure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school is fully isolated at the database level. No cross-tenant leakage.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262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👥 Role-based access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262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· Principal · Teacher · Student · Parent — every action audited.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0" y="301752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412480" y="320040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💾 Daily backups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412480" y="356616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Encrypted, point-in-time recovery. One-click data export — no lock-in.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🇮🇳 Hosted in India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residency, low latency, DPDP-aligned for Indian schools.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3434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262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🛡️ Privacy-first AI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5262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embeddings only. Student data never trains third-party models.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229600" y="4709160"/>
            <a:ext cx="3657600" cy="1508760"/>
          </a:xfrm>
          <a:prstGeom prst="roundRect">
            <a:avLst>
              <a:gd name="adj" fmla="val 6061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412480" y="4892040"/>
            <a:ext cx="3291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📋 Audit logs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8412480" y="5257800"/>
            <a:ext cx="32918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login, edit, export logged for compliance and forensics.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EDITIONS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Pick the edition that fits your school.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STARTER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858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6858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Admissions &amp; fees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HR &amp; payroll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Timetable &amp; exams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Report cards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Library · Transport · Hostel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Parent portal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434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25400">
            <a:solidFill>
              <a:srgbClr val="A855F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MOST POPULAR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5720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Operate + Cortex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5720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Operate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Chapter Generator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150k Question Bank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Assessment Creator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Lesson plans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Cortex Helper bot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229600" y="2286000"/>
            <a:ext cx="3657600" cy="3840480"/>
          </a:xfrm>
          <a:prstGeom prst="roundRect">
            <a:avLst>
              <a:gd name="adj" fmla="val 3750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58200" y="24231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ENTERPRISE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8458200" y="27432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58200" y="3383280"/>
            <a:ext cx="320040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Everything in Pro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Evaluator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Face AI Attendance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Teacher Assist (2026)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Surveillance (2026)</a:t>
            </a:r>
            <a:endParaRPr lang="en-US" sz="1100" dirty="0"/>
          </a:p>
          <a:p>
            <a:pPr marL="342900" indent="-342900">
              <a:lnSpc>
                <a:spcPts val="1800"/>
              </a:lnSpc>
              <a:buSzPct val="100000"/>
              <a:buChar char="●"/>
            </a:pPr>
            <a:r>
              <a:rPr lang="en-US" sz="11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Dedicated CSM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scales with student count. We'll send a tailored quote within 48 hours of this demo.</a:t>
            </a:r>
            <a:endParaRPr lang="en-US" sz="13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112471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600" kern="0" dirty="0">
                <a:solidFill>
                  <a:srgbClr val="A855F7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ONBOARDING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640080"/>
            <a:ext cx="112471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From contract to live in 14 days.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457200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40080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1-3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40080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Setup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Tenant provisioned. Branding, classes, sections, fee structure imported.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364992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547872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4-7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3547872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Data migration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547872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Student &amp; staff records imported from your existing system. Validated by AIvenX team.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272784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55664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8-11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455664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Training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55664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Admin · Principal · Teacher · Parent walkthroughs. Recorded, role-specific.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9180576" y="2286000"/>
            <a:ext cx="2743200" cy="2560320"/>
          </a:xfrm>
          <a:prstGeom prst="roundRect">
            <a:avLst>
              <a:gd name="adj" fmla="val 5357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63456" y="2423160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64748B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DAY 12-14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9363456" y="274320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Go-live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9363456" y="3200400"/>
            <a:ext cx="23774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47556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Soft launch with one class → full rollout. Dedicated CSM on call.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5212080"/>
            <a:ext cx="11292840" cy="1005840"/>
          </a:xfrm>
          <a:prstGeom prst="round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5349240"/>
            <a:ext cx="1097280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White-glove migration is included. We handle CSV imports from your current ERP / LMS — your team isn't stuck reformatting spreadsheets.</a:t>
            </a:r>
            <a:endParaRPr lang="en-US" sz="13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82296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8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48640" y="1371600"/>
            <a:ext cx="109728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Three things, this week.</a:t>
            </a:r>
            <a:endParaRPr lang="en-US" sz="5000" dirty="0"/>
          </a:p>
        </p:txBody>
      </p:sp>
      <p:sp>
        <p:nvSpPr>
          <p:cNvPr id="7" name="Text 5"/>
          <p:cNvSpPr/>
          <p:nvPr/>
        </p:nvSpPr>
        <p:spPr>
          <a:xfrm>
            <a:off x="548640" y="320040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01</a:t>
            </a:r>
            <a:endParaRPr lang="en-US" sz="3600" dirty="0"/>
          </a:p>
        </p:txBody>
      </p:sp>
      <p:sp>
        <p:nvSpPr>
          <p:cNvPr id="8" name="Text 6"/>
          <p:cNvSpPr/>
          <p:nvPr/>
        </p:nvSpPr>
        <p:spPr>
          <a:xfrm>
            <a:off x="155448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Tailored quote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1554480" y="36576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Pricing for your edition + student count within 48 hours.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425196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02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155448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Pilot setup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1554480" y="47091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Free 14-day pilot tenant with one class — your data, your branding.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548640" y="5303520"/>
            <a:ext cx="9144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03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1554480" y="53035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Decision call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1554480" y="5760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Reconvene at the end of the pilot to plan rollout or close out.</a:t>
            </a:r>
            <a:endParaRPr lang="en-US" sz="14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A85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22D3EE"/>
          </a:solidFill>
          <a:ln/>
        </p:spPr>
      </p:sp>
      <p:sp>
        <p:nvSpPr>
          <p:cNvPr id="3" name="Shape 1"/>
          <p:cNvSpPr/>
          <p:nvPr/>
        </p:nvSpPr>
        <p:spPr>
          <a:xfrm>
            <a:off x="5486400" y="0"/>
            <a:ext cx="6702552" cy="6858000"/>
          </a:xfrm>
          <a:prstGeom prst="rect">
            <a:avLst/>
          </a:prstGeom>
          <a:solidFill>
            <a:srgbClr val="A855F7">
              <a:alpha val="70000"/>
            </a:srgbClr>
          </a:solidFill>
          <a:ln/>
        </p:spPr>
      </p:sp>
      <p:sp>
        <p:nvSpPr>
          <p:cNvPr id="4" name="Shape 2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>
              <a:alpha val="20000"/>
            </a:srgbClr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45720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548640" y="2286000"/>
            <a:ext cx="1097280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Thank you.</a:t>
            </a:r>
            <a:endParaRPr lang="en-US" sz="9600" dirty="0"/>
          </a:p>
        </p:txBody>
      </p:sp>
      <p:sp>
        <p:nvSpPr>
          <p:cNvPr id="7" name="Text 5"/>
          <p:cNvSpPr/>
          <p:nvPr/>
        </p:nvSpPr>
        <p:spPr>
          <a:xfrm>
            <a:off x="548640" y="4572000"/>
            <a:ext cx="10972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54864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4864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sales@aivenx.co.in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38912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GENERAL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438912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hello@aivenx.co.in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229600" y="58521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400" kern="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8229600" y="6126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aivenx.co.in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25</Slides>
  <Notes>25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2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</vt:vector>
  </TitlesOfParts>
  <Company>AIvenX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AIvenX — Demo Deck</dc:title>
  <dc:subject>PptxGenJS Presentation</dc:subject>
  <dc:creator>AIvenX</dc:creator>
  <cp:lastModifiedBy>AIvenX</cp:lastModifiedBy>
  <cp:revision>1</cp:revision>
  <dcterms:created xsi:type="dcterms:W3CDTF">2026-04-25T19:20:10Z</dcterms:created>
  <dcterms:modified xsi:type="dcterms:W3CDTF">2026-04-25T19:20:10Z</dcterms:modified>
</cp:coreProperties>
</file>